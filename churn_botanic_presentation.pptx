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3017520"/>
            <a:ext cx="1645920" cy="16459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</a:rPr>
              <a:t>92.9%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3017520"/>
            <a:ext cx="1645920" cy="16459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</a:rPr>
              <a:t>0.956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AUC-ROC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3017520"/>
            <a:ext cx="1645920" cy="16459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</a:rPr>
              <a:t>100%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Recall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Prediction d'Attrition Clients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</a:rPr>
              <a:t>Botanic — Modelisation predictive pour la retention client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0" y="2240280"/>
            <a:ext cx="365760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Rafika Ayari Cervera  —  Data Analyst  |  2024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4572000"/>
            <a:ext cx="329184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Dataset : 845 876 clients  |  34M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Contexte &amp; Enjeux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1B"/>
                </a:solidFill>
              </a:rPr>
              <a:t>Problematique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14.5% des clients Botanic quittent l'enseigne chaque annee. Sur 845 876 clients, cela represente 72 745 personnes et 3 milliards € de revenus perdus si aucune action n'est prise.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7432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1B"/>
                </a:solidFill>
              </a:rPr>
              <a:t>Enjeu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8328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Anticiper le depart des clients AVANT qu'ils ne partent. Permettre a Botanic de prendre des mesures proactives et ciblees de retention.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43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0584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1B"/>
                </a:solidFill>
              </a:rPr>
              <a:t>Solution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5508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Construire un modele predictif a partir de 34 millions de transactions. Identifier les clients a risque avec une precision de 92.9% et un AUC de 0.956.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 |  Prediction Attrition Botanic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Methodologie — Pipeline Pro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05840"/>
            <a:ext cx="777240" cy="77724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00200" y="1399032"/>
            <a:ext cx="3200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920240"/>
            <a:ext cx="1691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920240"/>
            <a:ext cx="169164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1B"/>
                </a:solidFill>
              </a:rPr>
              <a:t>Base SQLite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" y="251460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5 tables sources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34M transactions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Index optimises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Chargement chunks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005840"/>
            <a:ext cx="777240" cy="77724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005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83280" y="1399032"/>
            <a:ext cx="3200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1920240"/>
            <a:ext cx="1691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65960" y="1920240"/>
            <a:ext cx="169164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2039112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1B"/>
                </a:solidFill>
              </a:rPr>
              <a:t>Jointures 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39112" y="251460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4 LEFT JOINs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Aggregations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Groupe par client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100K clients/sec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1005840"/>
            <a:ext cx="777240" cy="77724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005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166360" y="1399032"/>
            <a:ext cx="3200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920240"/>
            <a:ext cx="1691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920240"/>
            <a:ext cx="169164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3822192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1B"/>
                </a:solidFill>
              </a:rPr>
              <a:t>Nettoyage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22192" y="251460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Valeurs manquantes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Age &amp; anciennete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Label ATTRITION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Variables derivees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005840"/>
            <a:ext cx="777240" cy="77724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005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49440" y="1399032"/>
            <a:ext cx="3200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1920240"/>
            <a:ext cx="1691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1920240"/>
            <a:ext cx="169164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5605272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1B"/>
                </a:solidFill>
              </a:rPr>
              <a:t>SMOTE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05272" y="251460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Reeequilibrage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85%/15% -&gt; 50/50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119 536 exemples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Synthetiques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18120" y="1005840"/>
            <a:ext cx="777240" cy="77724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1005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315200" y="1920240"/>
            <a:ext cx="1691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0" y="1920240"/>
            <a:ext cx="169164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7" name="Text 35"/>
          <p:cNvSpPr/>
          <p:nvPr/>
        </p:nvSpPr>
        <p:spPr>
          <a:xfrm>
            <a:off x="7388352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1B"/>
                </a:solidFill>
              </a:rPr>
              <a:t>RFE + RL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88352" y="251460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8 variables cles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Regression Logist.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Validation 5-folds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CV : 0.961 +/- 0.001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 |  Prediction Attrition Botanic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KPIs &amp; Resultats du Modele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2011680" cy="1691640"/>
          </a:xfrm>
          <a:prstGeom prst="rect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7899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</a:rPr>
              <a:t>92.9%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764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5"/>
                </a:solidFill>
              </a:rPr>
              <a:t>Score global du modele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1691640"/>
          </a:xfrm>
          <a:prstGeom prst="rect">
            <a:avLst/>
          </a:prstGeom>
          <a:solidFill>
            <a:srgbClr val="2C5F2D"/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07899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0.956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23160" y="1764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AUC-ROC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5"/>
                </a:solidFill>
              </a:rPr>
              <a:t>Discrimination parfaite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2011680" cy="1691640"/>
          </a:xfrm>
          <a:prstGeom prst="rect">
            <a:avLst/>
          </a:prstGeom>
          <a:solidFill>
            <a:srgbClr val="2C5F2D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07899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1764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5"/>
                </a:solidFill>
              </a:rPr>
              <a:t>Aucun client a risque manque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2011680" cy="1691640"/>
          </a:xfrm>
          <a:prstGeom prst="rect">
            <a:avLst/>
          </a:prstGeom>
          <a:solidFill>
            <a:srgbClr val="2C5F2D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07899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59B6"/>
                </a:solidFill>
              </a:rPr>
              <a:t>0.961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12280" y="1764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CV 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5"/>
                </a:solidFill>
              </a:rPr>
              <a:t>Stabilite 5-folds +/-0.001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859536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8346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</a:rPr>
              <a:t>Matrice de confusion — Resultats sur 28 190 clients test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2286000" cy="365760"/>
          </a:xfrm>
          <a:prstGeom prst="rect">
            <a:avLst/>
          </a:prstGeom>
          <a:solidFill>
            <a:srgbClr val="0A1F0B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3291840"/>
            <a:ext cx="2926080" cy="365760"/>
          </a:xfrm>
          <a:prstGeom prst="rect">
            <a:avLst/>
          </a:prstGeom>
          <a:solidFill>
            <a:srgbClr val="0A1F0B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BC62"/>
                </a:solidFill>
              </a:rPr>
              <a:t>Predit Non-attr.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3291840"/>
            <a:ext cx="2926080" cy="365760"/>
          </a:xfrm>
          <a:prstGeom prst="rect">
            <a:avLst/>
          </a:prstGeom>
          <a:solidFill>
            <a:srgbClr val="0A1F0B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BC62"/>
                </a:solidFill>
              </a:rPr>
              <a:t>Predit Attr.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2286000" cy="347472"/>
          </a:xfrm>
          <a:prstGeom prst="rect">
            <a:avLst/>
          </a:prstGeom>
          <a:solidFill>
            <a:srgbClr val="2C5F2D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657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Reel Non-attr.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3657600"/>
            <a:ext cx="2926080" cy="347472"/>
          </a:xfrm>
          <a:prstGeom prst="rect">
            <a:avLst/>
          </a:prstGeom>
          <a:solidFill>
            <a:srgbClr val="0F3D10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657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BC62"/>
                </a:solidFill>
              </a:rPr>
              <a:t>2 567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3657600"/>
            <a:ext cx="2926080" cy="347472"/>
          </a:xfrm>
          <a:prstGeom prst="rect">
            <a:avLst/>
          </a:prstGeom>
          <a:solidFill>
            <a:srgbClr val="2C5F2D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3657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041648"/>
            <a:ext cx="2286000" cy="347472"/>
          </a:xfrm>
          <a:prstGeom prst="rect">
            <a:avLst/>
          </a:prstGeom>
          <a:solidFill>
            <a:srgbClr val="2C5F2D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41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Reel Attr.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0" y="4041648"/>
            <a:ext cx="2926080" cy="347472"/>
          </a:xfrm>
          <a:prstGeom prst="rect">
            <a:avLst/>
          </a:prstGeom>
          <a:solidFill>
            <a:srgbClr val="2C5F2D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0416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</a:rPr>
              <a:t>1 980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0" y="4041648"/>
            <a:ext cx="2926080" cy="347472"/>
          </a:xfrm>
          <a:prstGeom prst="rect">
            <a:avLst/>
          </a:prstGeom>
          <a:solidFill>
            <a:srgbClr val="0F3D10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40416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BC62"/>
                </a:solidFill>
              </a:rPr>
              <a:t>23 635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7BC62"/>
                </a:solidFill>
              </a:rPr>
              <a:t>23 635 vrais positifs  —  Recall 100%  —  Seulement 8 faux positifs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Profil des clients — Insights cles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</a:rPr>
              <a:t>Repartition par 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46-60 ans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499616"/>
            <a:ext cx="34747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1499616"/>
            <a:ext cx="2988259" cy="182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4630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30.1%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61+ ans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2002536"/>
            <a:ext cx="34747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2002536"/>
            <a:ext cx="2829415" cy="1828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965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28.5%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468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31-45 ans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54480" y="2505456"/>
            <a:ext cx="34747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554480" y="2505456"/>
            <a:ext cx="1191333" cy="182880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468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12%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971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18-30 ans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54480" y="3008376"/>
            <a:ext cx="34747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1554480" y="3008376"/>
            <a:ext cx="39711" cy="1828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971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0.4%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474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Inconnue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54480" y="3511296"/>
            <a:ext cx="34747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3511296"/>
            <a:ext cx="2879054" cy="1828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4747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29%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1005840"/>
            <a:ext cx="31089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1005840"/>
            <a:ext cx="64008" cy="868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1051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1B"/>
                </a:solidFill>
              </a:rPr>
              <a:t>Clientele mature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97880" y="13898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58% des clients ont plus de 46 ans — fort pouvoir d'achat et fidelite elevee.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2011680"/>
            <a:ext cx="31089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60720" y="2011680"/>
            <a:ext cx="64008" cy="8686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2057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1B"/>
                </a:solidFill>
              </a:rPr>
              <a:t>Base tres fidele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97880" y="23957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99% des clients ont plus de 8 ans d'anciennete — relation bancaire solide.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3017520"/>
            <a:ext cx="31089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60720" y="3017520"/>
            <a:ext cx="64008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6" name="Text 34"/>
          <p:cNvSpPr/>
          <p:nvPr/>
        </p:nvSpPr>
        <p:spPr>
          <a:xfrm>
            <a:off x="5897880" y="30632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1B"/>
                </a:solidFill>
              </a:rPr>
              <a:t>Panier attritionniste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97880" y="34015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Paradoxe : les attritionnistes ont un panier de 76€ vs 84€ pour les fideles.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0" y="4023360"/>
            <a:ext cx="31089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760720" y="4023360"/>
            <a:ext cx="64008" cy="8686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0" name="Text 38"/>
          <p:cNvSpPr/>
          <p:nvPr/>
        </p:nvSpPr>
        <p:spPr>
          <a:xfrm>
            <a:off x="5897880" y="40690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1B"/>
                </a:solidFill>
              </a:rPr>
              <a:t>72 745 a risque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97880" y="440740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8.6% des clients peuvent partir — chaque point de % = milliers de clients.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 |  Prediction Attrition Botanic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Impact Financier — Ce que le modele rapporte a Botanic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32688"/>
            <a:ext cx="859536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F5F5"/>
                </a:solidFill>
              </a:rPr>
              <a:t>Hypotheses : 845 876 clients  |  Panier moyen 84€  |  Achat annuel 1 008€/client  |  Cout campagne 15€/client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2011680" cy="1691640"/>
          </a:xfrm>
          <a:prstGeom prst="rect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4813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</a:rPr>
              <a:t>72 745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Clients a risque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578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5"/>
                </a:solidFill>
              </a:rPr>
              <a:t>8.6% de la base — 845 876 clients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417320"/>
            <a:ext cx="2011680" cy="1691640"/>
          </a:xfrm>
          <a:prstGeom prst="rect">
            <a:avLst/>
          </a:prstGeom>
          <a:solidFill>
            <a:srgbClr val="2C5F2D"/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4813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500"/>
                </a:solidFill>
              </a:rPr>
              <a:t>67 121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2316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Correctement detectes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578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5"/>
                </a:solidFill>
              </a:rPr>
              <a:t>Recall 92.3% sur les attritionnistes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417320"/>
            <a:ext cx="2011680" cy="1691640"/>
          </a:xfrm>
          <a:prstGeom prst="rect">
            <a:avLst/>
          </a:prstGeom>
          <a:solidFill>
            <a:srgbClr val="2C5F2D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4813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50"/>
                </a:solidFill>
              </a:rPr>
              <a:t>151 M€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Revenus recuperes (5%)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578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5"/>
                </a:solidFill>
              </a:rPr>
              <a:t>53 713 clients x 1 008€ x 5% retention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417320"/>
            <a:ext cx="2011680" cy="1691640"/>
          </a:xfrm>
          <a:prstGeom prst="rect">
            <a:avLst/>
          </a:prstGeom>
          <a:solidFill>
            <a:srgbClr val="2C5F2D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4813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</a:rPr>
              <a:t>3 Mds €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1228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Cout total attrition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78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5"/>
                </a:solidFill>
              </a:rPr>
              <a:t>Si aucune action n'est prise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246120"/>
            <a:ext cx="8595360" cy="685800"/>
          </a:xfrm>
          <a:prstGeom prst="rect">
            <a:avLst/>
          </a:prstGeom>
          <a:solidFill>
            <a:srgbClr val="2C5F2D"/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246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IMPACT GLOBAL ESTIME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3246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151 243 454 € / an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00800" y="3246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5"/>
                </a:solidFill>
              </a:rPr>
              <a:t>Scenario retention 5% des attritionnistes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</a:rPr>
              <a:t>Comparaison des scenarios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3708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Notre modele (Recall 100%)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51760" y="4389120"/>
            <a:ext cx="5029200" cy="18288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30" name="Shape 28"/>
          <p:cNvSpPr/>
          <p:nvPr/>
        </p:nvSpPr>
        <p:spPr>
          <a:xfrm>
            <a:off x="2651760" y="4389120"/>
            <a:ext cx="5029200" cy="1828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43708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</a:rPr>
              <a:t>151 M€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6085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Modele aleatoire (50%)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51760" y="4626864"/>
            <a:ext cx="5029200" cy="18288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34" name="Shape 32"/>
          <p:cNvSpPr/>
          <p:nvPr/>
        </p:nvSpPr>
        <p:spPr>
          <a:xfrm>
            <a:off x="2651760" y="4626864"/>
            <a:ext cx="2514600" cy="1828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460857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8888"/>
                </a:solidFill>
              </a:rPr>
              <a:t>75 M€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Sans modele (0%)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51760" y="4864608"/>
            <a:ext cx="5029200" cy="18288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0" y="484632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0 €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Recommandations &amp; Prochaines etapes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0" cy="868680"/>
          </a:xfrm>
          <a:prstGeom prst="rect">
            <a:avLst/>
          </a:prstGeom>
          <a:solidFill>
            <a:srgbClr val="F8FAFC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70432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1B"/>
                </a:solidFill>
              </a:rPr>
              <a:t>Deployer le modele en production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0817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Integrer la Regression Logistique dans le CRM Botanic. API REST ou batch mensuel pour scorer tous les clients.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5029200" cy="868680"/>
          </a:xfrm>
          <a:prstGeom prst="rect">
            <a:avLst/>
          </a:prstGeom>
          <a:solidFill>
            <a:srgbClr val="F8FAFC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130552"/>
            <a:ext cx="502920" cy="50292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011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1B"/>
                </a:solidFill>
              </a:rPr>
              <a:t>Cibler les clients VIP a risque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36829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Les clients VIP attritionnistes ont un panier eleve — priorite absolue pour les campagnes de retention personnalisees.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5029200" cy="868680"/>
          </a:xfrm>
          <a:prstGeom prst="rect">
            <a:avLst/>
          </a:prstGeom>
          <a:solidFill>
            <a:srgbClr val="F8FAFC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090672"/>
            <a:ext cx="502920" cy="5029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9718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1B"/>
                </a:solidFill>
              </a:rPr>
              <a:t>Agir sur l'univers prefere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32841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Le CODEUNIVERS est une variable cle. Proposer des offres personnalisees par univers (jardin, bio, animalerie...).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5029200" cy="868680"/>
          </a:xfrm>
          <a:prstGeom prst="rect">
            <a:avLst/>
          </a:prstGeom>
          <a:solidFill>
            <a:srgbClr val="F8FAFC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4050792"/>
            <a:ext cx="502920" cy="5029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9319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1B"/>
                </a:solidFill>
              </a:rPr>
              <a:t>Surveiller l'anciennete recente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28853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Les clients avec une derniere commande recente sont moins a risque. Maintenir l'engagement par des relances regulieres.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</a:rPr>
              <a:t>Roadmap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77840" y="1417320"/>
            <a:ext cx="32918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417320"/>
            <a:ext cx="3291840" cy="34747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1417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Court terme  |  0-3 mois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178308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Pilote sur 10 000 clients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15000" y="202082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Monitoring predictions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15000" y="225856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Formation equipes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2606040"/>
            <a:ext cx="32918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2606040"/>
            <a:ext cx="3291840" cy="34747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0" y="2606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Moyen terme  |  3-6 mois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15000" y="29718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Enrichissement dataset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715000" y="32095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Variables comportementales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15000" y="344728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Re-evaluation modele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3794760"/>
            <a:ext cx="32918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77840" y="3794760"/>
            <a:ext cx="3291840" cy="34747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0" name="Text 38"/>
          <p:cNvSpPr/>
          <p:nvPr/>
        </p:nvSpPr>
        <p:spPr>
          <a:xfrm>
            <a:off x="5577840" y="3794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 terme  |  6-12 mois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416052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API temps reel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15000" y="43982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XGBoost si + donnees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15000" y="46360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Conformite RGPD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 |  Prediction Attrition Botanic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0" y="1051560"/>
            <a:ext cx="365760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2194560" cy="2194560"/>
          </a:xfrm>
          <a:prstGeom prst="rect">
            <a:avLst/>
          </a:prstGeom>
          <a:solidFill>
            <a:srgbClr val="2C5F2D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</a:rPr>
              <a:t>92.9%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5F5F5"/>
                </a:solidFill>
              </a:rPr>
              <a:t>Modele robuste et fiable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280160"/>
            <a:ext cx="2194560" cy="2194560"/>
          </a:xfrm>
          <a:prstGeom prst="rect">
            <a:avLst/>
          </a:prstGeom>
          <a:solidFill>
            <a:srgbClr val="2C5F2D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371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</a:rPr>
              <a:t>67 121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Clients detectes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54203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5F5F5"/>
                </a:solidFill>
              </a:rPr>
              <a:t>Sur 72 745 clients a risque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194560" cy="2194560"/>
          </a:xfrm>
          <a:prstGeom prst="rect">
            <a:avLst/>
          </a:prstGeom>
          <a:solidFill>
            <a:srgbClr val="2C5F2D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371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</a:rPr>
              <a:t>151 M€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Revenus preserves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54203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5F5F5"/>
                </a:solidFill>
              </a:rPr>
              <a:t>Scenario retention 5% des clients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F5F5"/>
                </a:solidFill>
              </a:rPr>
              <a:t>Ce modele est pret pour un deploiement en production.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Rafika Ayari Cervera  —  linkedin.com/in/rafikacervera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Client Botanic</dc:title>
  <dc:subject>PptxGenJS Presentation</dc:subject>
  <dc:creator>Rafika Ayari Cervera</dc:creator>
  <cp:lastModifiedBy>Rafika Ayari Cervera</cp:lastModifiedBy>
  <cp:revision>1</cp:revision>
  <dcterms:created xsi:type="dcterms:W3CDTF">2026-03-18T09:42:18Z</dcterms:created>
  <dcterms:modified xsi:type="dcterms:W3CDTF">2026-03-18T09:42:18Z</dcterms:modified>
</cp:coreProperties>
</file>